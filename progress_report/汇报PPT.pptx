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194560"/>
            <a:ext cx="2194560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359152"/>
            <a:ext cx="2194560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523744"/>
            <a:ext cx="2194560" cy="54864"/>
          </a:xfrm>
          <a:prstGeom prst="rect">
            <a:avLst/>
          </a:prstGeom>
          <a:solidFill>
            <a:srgbClr val="3E9B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</a:rPr>
              <a:t>基于轻量迭代优化的自主泊车轨迹规划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103327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BFD3E8"/>
                </a:solidFill>
                <a:latin typeface="Microsoft YaHei"/>
                <a:ea typeface="Microsoft YaHei"/>
              </a:rPr>
              <a:t>Optimization-Based Autonomous Parking Trajectory Planning (LIOM)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DDE7F2"/>
                </a:solidFill>
                <a:latin typeface="Microsoft YaHei"/>
                <a:ea typeface="Microsoft YaHei"/>
              </a:rPr>
              <a:t>研究进展汇报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A8C0DA"/>
                </a:solidFill>
                <a:latin typeface="Microsoft YaHei"/>
                <a:ea typeface="Microsoft YaHei"/>
              </a:rPr>
              <a:t>汇报内容：项目五个工作模块的完成情况与效果展示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01  项目概述与研究内容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</a:rPr>
              <a:t>项目目标：</a:t>
            </a:r>
          </a:p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333333"/>
                </a:solidFill>
                <a:latin typeface="Microsoft YaHei"/>
                <a:ea typeface="Microsoft YaHei"/>
              </a:rPr>
              <a:t>实现并工程化论文《Optimization-Based Trajectory Planning for Autonomous Parking With Irregularly Placed Obstacles》(Bai Li et al., IEEE TITS 2022) 中的 LIOM 算法，在 ROS2 / Nav2 平台上完成不规则障碍环境下的自主泊车轨迹规划。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E75B6"/>
                </a:solidFill>
                <a:latin typeface="Microsoft YaHei"/>
                <a:ea typeface="Microsoft YaHei"/>
              </a:rPr>
              <a:t>技术路线（三段式）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33472"/>
            <a:ext cx="3108960" cy="73152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Hybrid A* 粗路径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49040" y="2999232"/>
            <a:ext cx="640079" cy="0"/>
          </a:xfrm>
          <a:prstGeom prst="line">
            <a:avLst/>
          </a:prstGeom>
          <a:ln w="31750">
            <a:solidFill>
              <a:srgbClr val="E8A3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23360" y="2633472"/>
            <a:ext cx="3108960" cy="73152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安全走廊生成 (SFC)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32320" y="2999232"/>
            <a:ext cx="640079" cy="0"/>
          </a:xfrm>
          <a:prstGeom prst="line">
            <a:avLst/>
          </a:prstGeom>
          <a:ln w="31750">
            <a:solidFill>
              <a:srgbClr val="E8A3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06640" y="2633472"/>
            <a:ext cx="3108960" cy="73152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IPOPT 轨迹优化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08080"/>
                </a:solidFill>
                <a:latin typeface="Microsoft YaHei"/>
                <a:ea typeface="Microsoft YaHei"/>
              </a:rPr>
              <a:t>粗路径提供运动学可行初值 → 迭代扩张碰撞安全走廊 → 软约束 OCP 求解出平滑轨迹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50208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E75B6"/>
                </a:solidFill>
                <a:latin typeface="Microsoft YaHei"/>
                <a:ea typeface="Microsoft YaHei"/>
              </a:rPr>
              <a:t>本次汇报的五个工作模块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52544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common_math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352544"/>
            <a:ext cx="786384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2D 几何数学库（Apollo 移植）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5488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3E9B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car_description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754880"/>
            <a:ext cx="786384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车辆 URDF 模型 + 圆盘碰撞表示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57216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liom_local_planner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157216"/>
            <a:ext cx="786384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核心：Hybrid A* + 走廊 + IPOPT 优化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59552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planner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559552"/>
            <a:ext cx="786384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Nav2 全局规划器插件封装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961888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EEF3F8"/>
          </a:solidFill>
          <a:ln w="12700">
            <a:solidFill>
              <a:srgbClr val="8A5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simulator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961888"/>
            <a:ext cx="786384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轻量仿真环境 + 人机交互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08080"/>
                </a:solidFill>
                <a:latin typeface="Microsoft YaHei"/>
                <a:ea typeface="Microsoft YaHe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02  系统总体架构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743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595959"/>
                </a:solidFill>
                <a:latin typeface="Microsoft YaHei"/>
                <a:ea typeface="Microsoft YaHei"/>
              </a:rPr>
              <a:t>仿真与交互层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108960" cy="8229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3E9B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simulator</a:t>
            </a:r>
          </a:p>
          <a:p>
            <a:pPr algn="ctr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时钟 / 里程计 / 遥操作 / 目标发布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2926080" cy="8229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3E9B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RViz2 交互界面</a:t>
            </a:r>
          </a:p>
          <a:p>
            <a:pPr algn="ctr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点选目标 · 轨迹显示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49039" y="1783080"/>
            <a:ext cx="457201" cy="0"/>
          </a:xfrm>
          <a:prstGeom prst="line">
            <a:avLst/>
          </a:prstGeom>
          <a:ln w="25400">
            <a:solidFill>
              <a:srgbClr val="3E9B6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2423160"/>
            <a:ext cx="2743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595959"/>
                </a:solidFill>
                <a:latin typeface="Microsoft YaHei"/>
                <a:ea typeface="Microsoft YaHei"/>
              </a:rPr>
              <a:t>Nav2 规划框架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3108960" cy="77724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planner_server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ComputePathToPose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743200"/>
            <a:ext cx="3840480" cy="77724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CustomPlanner 插件 (planner)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nav2_core::GlobalPlanner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49039" y="3127248"/>
            <a:ext cx="457201" cy="0"/>
          </a:xfrm>
          <a:prstGeom prst="line">
            <a:avLst/>
          </a:prstGeom>
          <a:ln w="2540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94560" y="3520440"/>
            <a:ext cx="0" cy="457199"/>
          </a:xfrm>
          <a:prstGeom prst="line">
            <a:avLst/>
          </a:prstGeom>
          <a:ln w="31750">
            <a:solidFill>
              <a:srgbClr val="E8A3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" y="3977639"/>
            <a:ext cx="7406640" cy="1463040"/>
          </a:xfrm>
          <a:prstGeom prst="roundRect">
            <a:avLst>
              <a:gd name="adj" fmla="val 6000"/>
            </a:avLst>
          </a:prstGeom>
          <a:solidFill>
            <a:srgbClr val="FDEFEF"/>
          </a:solidFill>
          <a:ln w="22860"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500" b="1" i="0">
                <a:solidFill>
                  <a:srgbClr val="D64545"/>
                </a:solidFill>
                <a:latin typeface="Microsoft YaHei"/>
                <a:ea typeface="Microsoft YaHei"/>
              </a:rPr>
              <a:t>liom_local_planner — 核心算法</a:t>
            </a:r>
          </a:p>
          <a:p>
            <a:pPr algn="ctr"/>
            <a:r>
              <a:rPr sz="1500" b="1" i="0">
                <a:solidFill>
                  <a:srgbClr val="D64545"/>
                </a:solidFill>
                <a:latin typeface="Microsoft YaHei"/>
                <a:ea typeface="Microsoft YaHei"/>
              </a:rPr>
              <a:t>Hybrid A* 粗路径  →  走廊生成 (SFC)  →  IPOPT 轨迹优化 (ADOL-C)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005840"/>
            <a:ext cx="329184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595959"/>
                </a:solidFill>
                <a:latin typeface="Microsoft YaHei"/>
                <a:ea typeface="Microsoft YaHei"/>
              </a:rPr>
              <a:t>基础支撑层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371600"/>
            <a:ext cx="3291840" cy="11887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common_math</a:t>
            </a:r>
          </a:p>
          <a:p>
            <a:pPr algn="ctr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2D 几何库</a:t>
            </a:r>
          </a:p>
          <a:p>
            <a:pPr algn="ctr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Vec2d/Pose/Box/Polygon/样条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743200"/>
            <a:ext cx="3291840" cy="11887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3E9B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car_description</a:t>
            </a:r>
          </a:p>
          <a:p>
            <a:pPr algn="ctr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车辆 URDF 模型</a:t>
            </a:r>
          </a:p>
          <a:p>
            <a:pPr algn="ctr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+ 圆盘碰撞表示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4160520"/>
            <a:ext cx="3291840" cy="12801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8A5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costmap / OMPL / IPOPT</a:t>
            </a:r>
          </a:p>
          <a:p>
            <a:pPr algn="ctr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外部依赖</a:t>
            </a:r>
          </a:p>
          <a:p>
            <a:pPr algn="ctr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(地图 · 解析曲线 · 求解器)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08080"/>
                </a:solidFill>
                <a:latin typeface="Microsoft YaHei"/>
                <a:ea typeface="Microsoft YaHe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工作点 1 — common_math 几何数学库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430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08080"/>
                </a:solidFill>
                <a:latin typeface="Microsoft YaHei"/>
                <a:ea typeface="Microsoft YaHei"/>
              </a:rPr>
              <a:t>基础层：为上层规划提供 2D 几何与数值计算支撑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103120" cy="658368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几何类型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234440"/>
            <a:ext cx="8503920" cy="6583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Vec2d / Pose / AABox2d / Box2d / Polygon2d / LineSegment2d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39112"/>
            <a:ext cx="2103120" cy="658368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碰撞与距离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039112"/>
            <a:ext cx="8503920" cy="6583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点/线段/盒/多边形之间的重叠判断、距离计算、凸包与 IoU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43784"/>
            <a:ext cx="2103120" cy="658368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数值工具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843784"/>
            <a:ext cx="8503920" cy="6583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角度归一化与连续化、Clamp、线性插值 lerp / Interpolate1d、LinSpaced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48456"/>
            <a:ext cx="2103120" cy="658368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样条插值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648456"/>
            <a:ext cx="8503920" cy="6583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三次 B 样条控制点求解、求值与求导（供 planner 做轨迹稠密化）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53128"/>
            <a:ext cx="2103120" cy="658368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来源与定位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453128"/>
            <a:ext cx="8503920" cy="6583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由 Apollo 开源几何库移植，作为项目底层依赖被各模块复用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86400"/>
            <a:ext cx="109728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E8A33D"/>
                </a:solidFill>
                <a:latin typeface="Microsoft YaHei"/>
                <a:ea typeface="Microsoft YaHei"/>
              </a:rPr>
              <a:t>说明：</a:t>
            </a:r>
          </a:p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该模块为纯基础设施，不直接产生可视化效果；其几何原语与样条工具是后续“轨迹优化 + 插值输出”的底层支撑。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08080"/>
                </a:solidFill>
                <a:latin typeface="Microsoft YaHei"/>
                <a:ea typeface="Microsoft YaHe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工作点 2 — car_description 车辆建模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430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08080"/>
                </a:solidFill>
                <a:latin typeface="Microsoft YaHei"/>
                <a:ea typeface="Microsoft YaHei"/>
              </a:rPr>
              <a:t>后轴中心坐标系 + 圆盘碰撞表示，尺寸与运动学参数严格一致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4206240" cy="4937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</a:rPr>
              <a:t>建模内容</a:t>
            </a:r>
          </a:p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• 后轮轴中心为基准的车辆 URDF（车身 + 四轮 + 标记）</a:t>
            </a:r>
          </a:p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• 车长 4.689 m / 车宽 1.942 m / 轴距 2.80 m</a:t>
            </a:r>
          </a:p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• 前轮可转向关节 (±0.61 rad)，含传动配置</a:t>
            </a:r>
          </a:p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</a:rPr>
              <a:t>圆盘碰撞模型</a:t>
            </a:r>
          </a:p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• 用 2 个圆盘覆盖车辆矩形轮廓</a:t>
            </a:r>
          </a:p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• 圆盘半径 = 0.5·√((L/n)² + W²) ≈ 1.52 m</a:t>
            </a:r>
          </a:p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• 把碰撞检测简化为“圆盘中心是否在障碍物内”</a:t>
            </a:r>
          </a:p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</a:rPr>
              <a:t>作用</a:t>
            </a:r>
          </a:p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• RViz 中显示车辆本体</a:t>
            </a:r>
          </a:p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• 参数与 PlannerConfig 运动学模型一一对应</a:t>
            </a:r>
          </a:p>
        </p:txBody>
      </p:sp>
      <p:pic>
        <p:nvPicPr>
          <p:cNvPr id="7" name="Picture 6" descr="vehi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4540"/>
            <a:ext cx="6675120" cy="46575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08080"/>
                </a:solidFill>
                <a:latin typeface="Microsoft YaHei"/>
                <a:ea typeface="Microsoft YaHe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工作点 3 — liom_local_planner 核心算法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430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08080"/>
                </a:solidFill>
                <a:latin typeface="Microsoft YaHei"/>
                <a:ea typeface="Microsoft YaHei"/>
              </a:rPr>
              <a:t>项目核心：Hybrid A* 粗路径 + 安全走廊 + IPOPT 轨迹优化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329184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E75B6"/>
                </a:solidFill>
                <a:latin typeface="Microsoft YaHei"/>
                <a:ea typeface="Microsoft YaHei"/>
              </a:rPr>
              <a:t>核心子模块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00" b="1" i="0">
                <a:solidFill>
                  <a:srgbClr val="1F3864"/>
                </a:solidFill>
                <a:latin typeface="Microsoft YaHei"/>
                <a:ea typeface="Microsoft YaHei"/>
              </a:rPr>
              <a:t>VehicleModel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417320"/>
            <a:ext cx="2834640" cy="6583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车辆运动学 + 圆盘碰撞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03704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00" b="1" i="0">
                <a:solidFill>
                  <a:srgbClr val="1F3864"/>
                </a:solidFill>
                <a:latin typeface="Microsoft YaHei"/>
                <a:ea typeface="Microsoft YaHei"/>
              </a:rPr>
              <a:t>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203704"/>
            <a:ext cx="2834640" cy="6583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R-tree 碰撞检测 + 走廊生成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90088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00" b="1" i="0">
                <a:solidFill>
                  <a:srgbClr val="1F3864"/>
                </a:solidFill>
                <a:latin typeface="Microsoft YaHei"/>
                <a:ea typeface="Microsoft YaHei"/>
              </a:rPr>
              <a:t>PathPlanner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990088"/>
            <a:ext cx="2834640" cy="6583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Hybrid A* 粗路径(Reeds-Shepp)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76472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00" b="1" i="0">
                <a:solidFill>
                  <a:srgbClr val="1F3864"/>
                </a:solidFill>
                <a:latin typeface="Microsoft YaHei"/>
                <a:ea typeface="Microsoft YaHei"/>
              </a:rPr>
              <a:t>LightweightProblem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776472"/>
            <a:ext cx="2834640" cy="6583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IPOPT OCP(软约束 + ADOL-C)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62856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00" b="1" i="0">
                <a:solidFill>
                  <a:srgbClr val="1F3864"/>
                </a:solidFill>
                <a:latin typeface="Microsoft YaHei"/>
                <a:ea typeface="Microsoft YaHei"/>
              </a:rPr>
              <a:t>LiomLocalPlanner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562856"/>
            <a:ext cx="2834640" cy="6583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迭代走廊优化主循环(Alg.3)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49240"/>
            <a:ext cx="1965960" cy="65836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00" b="1" i="0">
                <a:solidFill>
                  <a:srgbClr val="1F3864"/>
                </a:solidFill>
                <a:latin typeface="Microsoft YaHei"/>
                <a:ea typeface="Microsoft YaHei"/>
              </a:rPr>
              <a:t>visualization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349240"/>
            <a:ext cx="2834640" cy="6583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RViz 走廊/轨迹可视化</a:t>
            </a:r>
          </a:p>
        </p:txBody>
      </p:sp>
      <p:pic>
        <p:nvPicPr>
          <p:cNvPr id="19" name="Picture 18" descr="par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32998"/>
            <a:ext cx="6492240" cy="484920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08080"/>
                </a:solidFill>
                <a:latin typeface="Microsoft YaHei"/>
                <a:ea typeface="Microsoft YaHe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迭代走廊优化框架（论文 Alg. 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430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08080"/>
                </a:solidFill>
                <a:latin typeface="Microsoft YaHei"/>
                <a:ea typeface="Microsoft YaHei"/>
              </a:rPr>
              <a:t>核心贡献：坏初值下逐步重建走廊并热启动求解，直至收敛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F3864"/>
                </a:solidFill>
                <a:latin typeface="Microsoft YaHei"/>
                <a:ea typeface="Microsoft YaHei"/>
              </a:rPr>
              <a:t>思路：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建走廊 → 解盒约束 OCP → 计算不可行度 ψ → 用当前解重建走廊并热启动再解，循环至 ψ &lt; ε。相比“只建一次走廊解一次”的 STC 方法，能稳定从坏初值恢复。</a:t>
            </a:r>
          </a:p>
        </p:txBody>
      </p:sp>
      <p:pic>
        <p:nvPicPr>
          <p:cNvPr id="7" name="Picture 6" descr="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791" y="1828800"/>
            <a:ext cx="7073378" cy="3017520"/>
          </a:xfrm>
          <a:prstGeom prst="rect">
            <a:avLst/>
          </a:prstGeom>
        </p:spPr>
      </p:pic>
      <p:pic>
        <p:nvPicPr>
          <p:cNvPr id="8" name="Picture 7" descr="corrid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109" y="4892040"/>
            <a:ext cx="1895301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08080"/>
                </a:solidFill>
                <a:latin typeface="Microsoft YaHei"/>
                <a:ea typeface="Microsoft YaHe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工作点 4 — planner Nav2 插件封装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430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08080"/>
                </a:solidFill>
                <a:latin typeface="Microsoft YaHei"/>
                <a:ea typeface="Microsoft YaHei"/>
              </a:rPr>
              <a:t>将 LIOM 算法接入 Nav2 全局规划框架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4206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</a:rPr>
              <a:t>插件实现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• CustomPlanner 继承 nav2_core::GlobalPlanner，通过 pluginlib 注册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• createPlan() 调用 LiomLocalPlanner::Plan() 完成全局规划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• 以 planner/CustomPlanner 插件形式在 planner.yaml 中启用</a:t>
            </a:r>
          </a:p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</a:rPr>
              <a:t>轨迹稠密化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• 优化结果为稀疏状态点，用三次 B 样条按时间插值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• 解缠航向、由几何反解 v/φ、差分求 a/ω，输出 nav_msgs::Path</a:t>
            </a:r>
          </a:p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</a:rPr>
              <a:t>工程整理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• 旧版 Hybrid A*(SmacPlannerHybrid 风格)代码已注释并标注“已弃用”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• 统一改用 liom_local_planner，接口清晰、可维护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463040"/>
            <a:ext cx="4937760" cy="73152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createPlan(start, goal)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468880"/>
            <a:ext cx="4937760" cy="731520"/>
          </a:xfrm>
          <a:prstGeom prst="roundRect">
            <a:avLst>
              <a:gd name="adj" fmla="val 6000"/>
            </a:avLst>
          </a:prstGeom>
          <a:solidFill>
            <a:srgbClr val="FDEFEF"/>
          </a:solidFill>
          <a:ln w="12700"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1" i="0">
                <a:solidFill>
                  <a:srgbClr val="D64545"/>
                </a:solidFill>
                <a:latin typeface="Microsoft YaHei"/>
                <a:ea typeface="Microsoft YaHei"/>
              </a:rPr>
              <a:t>LiomLocalPlanner::Plan()</a:t>
            </a:r>
          </a:p>
          <a:p>
            <a:pPr algn="ctr"/>
            <a:r>
              <a:rPr sz="1300" b="1" i="0">
                <a:solidFill>
                  <a:srgbClr val="D64545"/>
                </a:solidFill>
                <a:latin typeface="Microsoft YaHei"/>
                <a:ea typeface="Microsoft YaHei"/>
              </a:rPr>
              <a:t>(粗路径 → 走廊 → IPOPT)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474720"/>
            <a:ext cx="4937760" cy="7315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三次 B 样条按时间插值</a:t>
            </a:r>
          </a:p>
          <a:p>
            <a:pPr algn="ctr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稠密化轨迹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480560"/>
            <a:ext cx="4937760" cy="7315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3E9B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1" i="0">
                <a:solidFill>
                  <a:srgbClr val="3E9B6C"/>
                </a:solidFill>
                <a:latin typeface="Microsoft YaHei"/>
                <a:ea typeface="Microsoft YaHei"/>
              </a:rPr>
              <a:t>nav_msgs::Path</a:t>
            </a:r>
          </a:p>
          <a:p>
            <a:pPr algn="ctr"/>
            <a:r>
              <a:rPr sz="1300" b="1" i="0">
                <a:solidFill>
                  <a:srgbClr val="3E9B6C"/>
                </a:solidFill>
                <a:latin typeface="Microsoft YaHei"/>
                <a:ea typeface="Microsoft YaHei"/>
              </a:rPr>
              <a:t>返回 Nav2 / RViz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52560" y="2194560"/>
            <a:ext cx="0" cy="274319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52560" y="3200400"/>
            <a:ext cx="0" cy="27432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52560" y="4206240"/>
            <a:ext cx="0" cy="274319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08080"/>
                </a:solidFill>
                <a:latin typeface="Microsoft YaHei"/>
                <a:ea typeface="Microsoft YaHe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工作点 5 — simulator 仿真环境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430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08080"/>
                </a:solidFill>
                <a:latin typeface="Microsoft YaHei"/>
                <a:ea typeface="Microsoft YaHei"/>
              </a:rPr>
              <a:t>轻量仿真闭环：时钟 / 里程计 / 遥操作 / 目标发布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4754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</a:rPr>
              <a:t>仿真节点</a:t>
            </a:r>
          </a:p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• clock_node — 发布 /clock 仿真时钟（10 ms 步进）</a:t>
            </a:r>
          </a:p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• transform — 运动学机器人模型：订阅 /cmd_vel，积分里程计并广播 TF</a:t>
            </a:r>
          </a:p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• telecontrol — 键盘遥操作（方向键发 /cmd_vel）</a:t>
            </a:r>
          </a:p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• planner_bridge — RViz 点选目标，转成 Nav2 ComputePathToPose 请求</a:t>
            </a:r>
          </a:p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333333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  <a:ea typeface="Microsoft YaHei"/>
              </a:rPr>
              <a:t>与 Nav2 / RViz 集成</a:t>
            </a:r>
          </a:p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• 加载 car_description 车辆模型 + map_server 静态地图</a:t>
            </a:r>
          </a:p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• 闭环：点选目标 → 规划 → 路径回显，用于验证规划效果</a:t>
            </a:r>
          </a:p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  <a:ea typeface="Microsoft YaHei"/>
              </a:rPr>
              <a:t>• 支持 use_sim_time，与仿真时钟同步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371600"/>
            <a:ext cx="3108960" cy="64008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RViz 点选目标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2286000"/>
            <a:ext cx="3108960" cy="6400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3E9B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00" b="1" i="0">
                <a:solidFill>
                  <a:srgbClr val="1F3864"/>
                </a:solidFill>
                <a:latin typeface="Microsoft YaHei"/>
                <a:ea typeface="Microsoft YaHei"/>
              </a:rPr>
              <a:t>planner_bridge</a:t>
            </a:r>
          </a:p>
          <a:p>
            <a:pPr algn="ctr"/>
            <a:r>
              <a:rPr sz="1200" b="1" i="0">
                <a:solidFill>
                  <a:srgbClr val="1F3864"/>
                </a:solidFill>
                <a:latin typeface="Microsoft YaHei"/>
                <a:ea typeface="Microsoft YaHei"/>
              </a:rPr>
              <a:t>ComputePathToPose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200400"/>
            <a:ext cx="3108960" cy="640080"/>
          </a:xfrm>
          <a:prstGeom prst="roundRect">
            <a:avLst>
              <a:gd name="adj" fmla="val 6000"/>
            </a:avLst>
          </a:prstGeom>
          <a:solidFill>
            <a:srgbClr val="FDEFEF"/>
          </a:solidFill>
          <a:ln w="12700"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1" i="0">
                <a:solidFill>
                  <a:srgbClr val="D64545"/>
                </a:solidFill>
                <a:latin typeface="Microsoft YaHei"/>
                <a:ea typeface="Microsoft YaHei"/>
              </a:rPr>
              <a:t>Nav2 规划器 (custom)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4114800"/>
            <a:ext cx="3108960" cy="6400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路径回显 + 车辆模型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5029200"/>
            <a:ext cx="3108960" cy="6400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1" i="0">
                <a:solidFill>
                  <a:srgbClr val="1F3864"/>
                </a:solidFill>
                <a:latin typeface="Microsoft YaHei"/>
                <a:ea typeface="Microsoft YaHei"/>
              </a:rPr>
              <a:t>transform 里程计 / TF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966960" y="2011680"/>
            <a:ext cx="0" cy="27432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966960" y="2926080"/>
            <a:ext cx="0" cy="27432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966960" y="3840480"/>
            <a:ext cx="0" cy="27432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66960" y="4754880"/>
            <a:ext cx="0" cy="27432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521440" y="1691640"/>
            <a:ext cx="548640" cy="0"/>
          </a:xfrm>
          <a:prstGeom prst="line">
            <a:avLst/>
          </a:prstGeom>
          <a:ln w="25400">
            <a:solidFill>
              <a:srgbClr val="3E9B6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070080" y="1691640"/>
            <a:ext cx="0" cy="365760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1521440" y="5349240"/>
            <a:ext cx="548640" cy="0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08080"/>
                </a:solidFill>
                <a:latin typeface="Microsoft YaHei"/>
                <a:ea typeface="Microsoft YaHe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03  总结与下一步计划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3E9B6C"/>
                </a:solidFill>
                <a:latin typeface="Microsoft YaHei"/>
                <a:ea typeface="Microsoft YaHei"/>
              </a:rPr>
              <a:t>已完成工作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7607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✓  完成 LIOM 算法完整实现（粗路径 + 走廊 + IPOPT 优化）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75688"/>
            <a:ext cx="57607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✓  补齐论文核心贡献 —— 迭代走廊优化框架（Alg. 3）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51176"/>
            <a:ext cx="57607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✓  修复时间步长 off-by-one、ADOL-C tape 瘦身等正确性/性能问题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26664"/>
            <a:ext cx="57607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✓  封装为 Nav2 全局规划器插件，接入 ROS2 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02152"/>
            <a:ext cx="57607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✓  搭建轻量仿真环境，支持 RViz 可视化验证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E8A33D"/>
                </a:solidFill>
                <a:latin typeface="Microsoft YaHei"/>
                <a:ea typeface="Microsoft YaHei"/>
              </a:rPr>
              <a:t>下一步计划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600200"/>
            <a:ext cx="51206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▸  在更多复杂/不规则障碍场景下开展系统测试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75688"/>
            <a:ext cx="51206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▸  与基准方法（纯 Hybrid A* 等）做定量对比实验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51176"/>
            <a:ext cx="51206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▸  性能 profile 与进一步工程优化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26664"/>
            <a:ext cx="51206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333333"/>
                </a:solidFill>
                <a:latin typeface="Microsoft YaHei"/>
                <a:ea typeface="Microsoft YaHei"/>
              </a:rPr>
              <a:t>▸  撰写论文正文与实验结果分析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</a:pPr>
            <a:r>
              <a:rPr sz="1100" b="0" i="0">
                <a:solidFill>
                  <a:srgbClr val="808080"/>
                </a:solidFill>
                <a:latin typeface="Microsoft YaHei"/>
                <a:ea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